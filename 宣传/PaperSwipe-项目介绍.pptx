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005839" cy="1005839"/>
          </a:xfrm>
          <a:prstGeom prst="rect">
            <a:avLst/>
          </a:prstGeom>
          <a:ln>
            <a:solidFill>
              <a:srgbClr val="DFE2E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2011680" y="9601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PaperSwipe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8132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8A8E9C"/>
                </a:solidFill>
                <a:latin typeface="PingFang SC"/>
                <a:ea typeface="PingFang SC"/>
              </a:rPr>
              <a:t>AI 驱动的论文发现与阅读管理工具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4400" b="1" i="0">
                <a:solidFill>
                  <a:srgbClr val="11131A"/>
                </a:solidFill>
                <a:latin typeface="PingFang SC"/>
                <a:ea typeface="PingFang SC"/>
              </a:rPr>
              <a:t>别再</a:t>
            </a:r>
            <a:r>
              <a:rPr sz="4400" b="1" i="0">
                <a:solidFill>
                  <a:srgbClr val="FF7A63"/>
                </a:solidFill>
                <a:latin typeface="PingFang SC"/>
                <a:ea typeface="PingFang SC"/>
              </a:rPr>
              <a:t>搜</a:t>
            </a:r>
            <a:r>
              <a:rPr sz="4400" b="1" i="0">
                <a:solidFill>
                  <a:srgbClr val="11131A"/>
                </a:solidFill>
                <a:latin typeface="PingFang SC"/>
                <a:ea typeface="PingFang SC"/>
              </a:rPr>
              <a:t>论文了，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4400" b="1" i="0">
                <a:solidFill>
                  <a:srgbClr val="11131A"/>
                </a:solidFill>
                <a:latin typeface="PingFang SC"/>
                <a:ea typeface="PingFang SC"/>
              </a:rPr>
              <a:t>开始</a:t>
            </a:r>
            <a:r>
              <a:rPr sz="4400" b="1" i="0">
                <a:solidFill>
                  <a:srgbClr val="7C6CFF"/>
                </a:solidFill>
                <a:latin typeface="PingFang SC"/>
                <a:ea typeface="PingFang SC"/>
              </a:rPr>
              <a:t>刷</a:t>
            </a:r>
            <a:r>
              <a:rPr sz="4400" b="1" i="0">
                <a:solidFill>
                  <a:srgbClr val="11131A"/>
                </a:solidFill>
                <a:latin typeface="PingFang SC"/>
                <a:ea typeface="PingFang SC"/>
              </a:rPr>
              <a:t>论文。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565A68"/>
                </a:solidFill>
                <a:latin typeface="PingFang SC"/>
                <a:ea typeface="PingFang SC"/>
              </a:rPr>
              <a:t>What if Google Scholar felt like TikTok?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0" i="0">
                <a:solidFill>
                  <a:srgbClr val="8A8E9C"/>
                </a:solidFill>
                <a:latin typeface="PingFang SC"/>
                <a:ea typeface="PingFang SC"/>
              </a:rPr>
              <a:t>项目介绍 · PaperSwipe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痛点 · PAIN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读论文最贵的成本，从来不是「读」，而是「找」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8A8E9C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55648"/>
            <a:ext cx="9692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565A68"/>
                </a:solidFill>
                <a:latin typeface="PingFang SC"/>
                <a:ea typeface="PingFang SC"/>
              </a:rPr>
              <a:t>打开 Google Scholar，搜一个关键词，出来几千篇结果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04288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8A8E9C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22576"/>
            <a:ext cx="9692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565A68"/>
                </a:solidFill>
                <a:latin typeface="PingFang SC"/>
                <a:ea typeface="PingFang SC"/>
              </a:rPr>
              <a:t>打开第一篇，翻译摘要，看完关掉；打开第二篇……如此重复几十次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71216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7121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8A8E9C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89504"/>
            <a:ext cx="9692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0" i="0">
                <a:solidFill>
                  <a:srgbClr val="565A68"/>
                </a:solidFill>
                <a:latin typeface="PingFang SC"/>
                <a:ea typeface="PingFang SC"/>
              </a:rPr>
              <a:t>终于收藏了 20 篇论文，标签打好、文件夹建好，感觉自己很努力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38144"/>
            <a:ext cx="365760" cy="365760"/>
          </a:xfrm>
          <a:prstGeom prst="roundRect">
            <a:avLst>
              <a:gd name="adj" fmla="val 100000"/>
            </a:avLst>
          </a:prstGeom>
          <a:solidFill>
            <a:srgbClr val="F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3814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56432"/>
            <a:ext cx="9692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31A"/>
                </a:solidFill>
                <a:latin typeface="PingFang SC"/>
                <a:ea typeface="PingFang SC"/>
              </a:rPr>
              <a:t>最终真正读完的：0 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问题从来不是论文不够多，而是从「几千篇结果」到「值得读的那一篇」之间，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隔着太多重复、低效、几乎没有信息增量的体力劳动。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痛点拆解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被现有工具系统性忽视的五个问题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46504"/>
            <a:ext cx="82296" cy="658368"/>
          </a:xfrm>
          <a:prstGeom prst="rect">
            <a:avLst/>
          </a:prstGeom>
          <a:solidFill>
            <a:srgbClr val="F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23774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31A"/>
                </a:solidFill>
                <a:latin typeface="PingFang SC"/>
                <a:ea typeface="PingFang SC"/>
              </a:rPr>
              <a:t>信息过载，检索低效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7955279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关键词式搜索召回几千篇结果，仍需逐篇点开详情页、翻看摘要才能判断相关性，交互方式老套繁琐，认知负荷极高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42616"/>
            <a:ext cx="82296" cy="658368"/>
          </a:xfrm>
          <a:prstGeom prst="rect">
            <a:avLst/>
          </a:prstGeom>
          <a:solidFill>
            <a:srgbClr val="F6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87752"/>
            <a:ext cx="23774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31A"/>
                </a:solidFill>
                <a:latin typeface="PingFang SC"/>
                <a:ea typeface="PingFang SC"/>
              </a:rPr>
              <a:t>摘要阅读门槛高、耗时长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87752"/>
            <a:ext cx="7955279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英文摘要专业术语密集，且主要面向论文 reviewer 撰写，未必直接体现论文的真实核心贡献；非母语用户还需反复翻译、追问细节，5~10 分钟才能判断一篇论文是否值得深读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538728"/>
            <a:ext cx="82296" cy="658368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83864"/>
            <a:ext cx="23774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31A"/>
                </a:solidFill>
                <a:latin typeface="PingFang SC"/>
                <a:ea typeface="PingFang SC"/>
              </a:rPr>
              <a:t>收藏即遗忘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83864"/>
            <a:ext cx="7955279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文献管理软件擅长「管理已收藏的」，但对「选出来之后什么时候读、按什么顺序读」完全没有解决方案，收藏夹变成论文坟场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434840"/>
            <a:ext cx="82296" cy="658368"/>
          </a:xfrm>
          <a:prstGeom prst="rect">
            <a:avLst/>
          </a:prstGeom>
          <a:solidFill>
            <a:srgbClr val="2FD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79976"/>
            <a:ext cx="23774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31A"/>
                </a:solidFill>
                <a:latin typeface="PingFang SC"/>
                <a:ea typeface="PingFang SC"/>
              </a:rPr>
              <a:t>热点感知滞后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379976"/>
            <a:ext cx="7955279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需要每天刷 X/Twitter、逛 arXiv 才能感知领域动态，个人很难持续跟踪全球研究前沿，容易错过关键工作或重复造轮子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330952"/>
            <a:ext cx="82296" cy="658368"/>
          </a:xfrm>
          <a:prstGeom prst="rect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76088"/>
            <a:ext cx="23774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31A"/>
                </a:solidFill>
                <a:latin typeface="PingFang SC"/>
                <a:ea typeface="PingFang SC"/>
              </a:rPr>
              <a:t>碎片化时间难以利用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276088"/>
            <a:ext cx="7955279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精读离不开 PC 端整块时间，但「筛选值不值得读」完全可以用通勤、排队等碎片时间在手机上完成——现有工具却全是桌面形态，筛选反而挤占了宝贵的整块阅读时间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2FD0C9"/>
                </a:solidFill>
                <a:latin typeface="PingFang SC"/>
                <a:ea typeface="PingFang SC"/>
              </a:rPr>
              <a:t>一个大胆的想法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PingFang SC"/>
                <a:ea typeface="PingFang SC"/>
              </a:rPr>
              <a:t>如果找论文，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PingFang SC"/>
                <a:ea typeface="PingFang SC"/>
              </a:rPr>
              <a:t>能像刷 </a:t>
            </a:r>
            <a:r>
              <a:rPr sz="3600" b="1" i="0">
                <a:solidFill>
                  <a:srgbClr val="7C6CFF"/>
                </a:solidFill>
                <a:latin typeface="PingFang SC"/>
                <a:ea typeface="PingFang SC"/>
              </a:rPr>
              <a:t>TikTok</a:t>
            </a:r>
            <a:r>
              <a:rPr sz="3600" b="1" i="0">
                <a:solidFill>
                  <a:srgbClr val="FFFFFF"/>
                </a:solidFill>
                <a:latin typeface="PingFang SC"/>
                <a:ea typeface="PingFang SC"/>
              </a:rPr>
              <a:t> 一样呢？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39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7C9D3"/>
                </a:solidFill>
                <a:latin typeface="PingFang SC"/>
                <a:ea typeface="PingFang SC"/>
              </a:rPr>
              <a:t>不用你输入关键词、翻几十页搜索结果、逐篇打开判断相关性。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7C9D3"/>
                </a:solidFill>
                <a:latin typeface="PingFang SC"/>
                <a:ea typeface="PingFang SC"/>
              </a:rPr>
              <a:t>AI 先理解你是谁、最近在研究什么、已经读过哪些论文，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0" i="0">
                <a:solidFill>
                  <a:srgbClr val="C7C9D3"/>
                </a:solidFill>
                <a:latin typeface="PingFang SC"/>
                <a:ea typeface="PingFang SC"/>
              </a:rPr>
              <a:t>然后直接把你最可能感兴趣的论文推到你面前——你只需要滑一下。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492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0" i="0">
                <a:solidFill>
                  <a:srgbClr val="C7C9D3"/>
                </a:solidFill>
                <a:latin typeface="PingFang SC"/>
                <a:ea typeface="PingFang SC"/>
              </a:rPr>
              <a:t>于是有了 </a:t>
            </a:r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</a:rPr>
              <a:t>PaperSwipe</a:t>
            </a:r>
            <a:r>
              <a:rPr sz="1800" b="0" i="0">
                <a:solidFill>
                  <a:srgbClr val="FFFFFF"/>
                </a:solidFill>
                <a:latin typeface="PingFang SC"/>
                <a:ea typeface="PingFang SC"/>
              </a:rPr>
              <a:t> 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产品方案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四个模块，闭环覆盖「发现 → 判断 → 归档 → 阅读 → 追踪热点」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2514600" cy="109728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i="0">
                <a:solidFill>
                  <a:srgbClr val="7C6CFF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i="0">
                <a:solidFill>
                  <a:srgbClr val="11131A"/>
                </a:solidFill>
                <a:latin typeface="PingFang SC"/>
                <a:ea typeface="PingFang SC"/>
              </a:rPr>
              <a:t>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AI 认识你，主动发现论文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1031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103120"/>
            <a:ext cx="2514600" cy="109728"/>
          </a:xfrm>
          <a:prstGeom prst="rect">
            <a:avLst/>
          </a:prstGeom>
          <a:solidFill>
            <a:srgbClr val="2FD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42316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i="0">
                <a:solidFill>
                  <a:srgbClr val="2FD0C9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718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i="0">
                <a:solidFill>
                  <a:srgbClr val="11131A"/>
                </a:solidFill>
                <a:latin typeface="PingFang SC"/>
                <a:ea typeface="PingFang SC"/>
              </a:rPr>
              <a:t>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52044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划走的论文，有了真正的家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1031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103120"/>
            <a:ext cx="2514600" cy="109728"/>
          </a:xfrm>
          <a:prstGeom prst="rect">
            <a:avLst/>
          </a:prstGeom>
          <a:solidFill>
            <a:srgbClr val="F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i="0">
                <a:solidFill>
                  <a:srgbClr val="FF7A63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718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i="0">
                <a:solidFill>
                  <a:srgbClr val="11131A"/>
                </a:solidFill>
                <a:latin typeface="PingFang SC"/>
                <a:ea typeface="PingFang SC"/>
              </a:rP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2044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AI 帮你规划阅读，配合对话助手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103120"/>
            <a:ext cx="25146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2103120"/>
            <a:ext cx="2514600" cy="109728"/>
          </a:xfrm>
          <a:prstGeom prst="rect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42316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200" b="1" i="0">
                <a:solidFill>
                  <a:srgbClr val="3ECF8E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97180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000" b="1" i="0">
                <a:solidFill>
                  <a:srgbClr val="11131A"/>
                </a:solidFill>
                <a:latin typeface="PingFang SC"/>
                <a:ea typeface="PingFang SC"/>
              </a:rPr>
              <a:t>Trending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52044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今天，全世界都在看什么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01 · 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AI 主动发现论文，四向滑动 5 秒完成判断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943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AI 自动把研究方向拆解为精准检索词，实时联通 Semantic Scholar / arXiv / OpenAlex 等全球权威学术源进行检索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每篇论文生成双面知识卡片：正面一句话讲清核心贡献，背面拆解问题、方法、结果、创新点与推荐理由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四向滑动完成决策（左滑跳过、右滑收藏、上滑标重点、下滑标已读），同时支持按钮和方向键操作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结合用户画像与历史滑动行为，通过推荐算法持续迭代优化结果，越用越懂你的研究方向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0568" y="1470005"/>
            <a:ext cx="2432304" cy="45580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plore1-卡片正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43157"/>
            <a:ext cx="2286000" cy="4411766"/>
          </a:xfrm>
          <a:prstGeom prst="rect">
            <a:avLst/>
          </a:prstGeom>
          <a:ln w="9525">
            <a:solidFill>
              <a:srgbClr val="DFE2E8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9208008" y="1472675"/>
            <a:ext cx="2432304" cy="455272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plore2-卡片背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545827"/>
            <a:ext cx="2286000" cy="4406425"/>
          </a:xfrm>
          <a:prstGeom prst="rect">
            <a:avLst/>
          </a:prstGeom>
          <a:ln w="9525">
            <a:solidFill>
              <a:srgbClr val="DFE2E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02 ·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划走的每一篇论文，有了真正属于你的家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943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三栏自动分类（感兴趣 / 重点 / 已读），阅读进度一目了然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AI 自动提炼主题标签，支持标签筛选，秒速定位历史论文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长按卡片可快速归档、删除，或一键安排进阅读日程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支持 BibTeX 导出与 Zotero 联动，无缝接入已有文献工作流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349484"/>
            <a:ext cx="2523744" cy="47076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brary首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22636"/>
            <a:ext cx="2377440" cy="4561367"/>
          </a:xfrm>
          <a:prstGeom prst="rect">
            <a:avLst/>
          </a:prstGeom>
          <a:ln w="9525">
            <a:solidFill>
              <a:srgbClr val="DFE2E8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9390888" y="1333461"/>
            <a:ext cx="2523744" cy="473971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ibrary筛选to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406613"/>
            <a:ext cx="2377440" cy="4593414"/>
          </a:xfrm>
          <a:prstGeom prst="rect">
            <a:avLst/>
          </a:prstGeom>
          <a:ln w="9525">
            <a:solidFill>
              <a:srgbClr val="DFE2E8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03 · Schedule &amp; AI 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AI 帮你规划阅读，论文不再躺在收藏夹吃灰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943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AI 自动规划阅读周计划，长按拖拽即可跨日期调整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AI 对话助手与 Schedule 联通，可根据研究目标、DDL 和可投入时间自动排期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直接提问「今天最值得读哪篇？」，AI 秒回答案和理由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提问「帮我规划这个方向的阅读 roadmap」，AI 排出成体系的学习路径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333461"/>
            <a:ext cx="2523744" cy="473971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hedule首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06613"/>
            <a:ext cx="2377440" cy="4593414"/>
          </a:xfrm>
          <a:prstGeom prst="rect">
            <a:avLst/>
          </a:prstGeom>
          <a:ln w="9525">
            <a:solidFill>
              <a:srgbClr val="DFE2E8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9390888" y="1344168"/>
            <a:ext cx="2523744" cy="4718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bot对话例3-为我规划读论文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417320"/>
            <a:ext cx="2377440" cy="4572000"/>
          </a:xfrm>
          <a:prstGeom prst="rect">
            <a:avLst/>
          </a:prstGeom>
          <a:ln w="9525">
            <a:solidFill>
              <a:srgbClr val="DFE2E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04 · Trending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今天，全世界都在看什么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943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实时全球研究热点榜，支持切换查看「本领域」或「全部领域」当下最火的 Topic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一键展开该 Topic 下最具代表性、最火的论文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重要论文引用飙升时第一时间提醒，永远站在信息最前沿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7728" y="1354776"/>
            <a:ext cx="2523744" cy="469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ending首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27928"/>
            <a:ext cx="2377440" cy="4550784"/>
          </a:xfrm>
          <a:prstGeom prst="rect">
            <a:avLst/>
          </a:prstGeom>
          <a:ln w="9525">
            <a:solidFill>
              <a:srgbClr val="DFE2E8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9390888" y="1344168"/>
            <a:ext cx="2523744" cy="4718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ending-展开最火topic的五篇论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417320"/>
            <a:ext cx="2377440" cy="4572000"/>
          </a:xfrm>
          <a:prstGeom prst="rect">
            <a:avLst/>
          </a:prstGeom>
          <a:ln w="9525">
            <a:solidFill>
              <a:srgbClr val="DFE2E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技术架构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工程效率优先的技术选型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1" i="0">
                <a:solidFill>
                  <a:srgbClr val="11131A"/>
                </a:solidFill>
                <a:latin typeface="PingFang SC"/>
                <a:ea typeface="PingFang SC"/>
              </a:rPr>
              <a:t>当前形态：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手机优先、零构建的 Web H5（打开即用，无需安装）；已基于 Capacitor 完成 iOS 端封装，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可在 iPhone 真机上直接调试运行，正推进真原生化以满足 App Store 商业化上架要求。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697480"/>
          <a:ext cx="1081735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8653881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层级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技术方案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后端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Go 语言编写，无外部数据库依赖，本地 JSON 原子写入持久化，服务器成本极低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数据源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同时对接 Semantic Scholar、arXiv、OpenAlex 三大权威学术源，自动降级容错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AI 能力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可插拔 OpenAI-compatible LLM 接口（当前对接智谱 GLM），无 Key 时自动降级为本地证据抽取，保证功能永远可用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前端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零构建原生 H5，移动端手势深度打磨（滑动判断、长按拖拽、防误触/防选中）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客户端化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Capacitor 混合壳 + 原生 Haptics 震动反馈，具备向 iOS/Android 原生 App 演进的完整路径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竞争格局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唯一把「发现→判断→归档→阅读规划→热点追踪」做成一体化闭环的产品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1081735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794"/>
                <a:gridCol w="2750174"/>
                <a:gridCol w="6050383"/>
              </a:tblGrid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类型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代表产品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局限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学术搜索引擎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Google Scholar、Semantic Scholar 官网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仍是关键词搜索范式，判断效率完全依赖人工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文献管理软件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Zotero、Mendeley、EndNote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擅长管理已收藏文献，不解决「发现」与「何时读」问题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滑动式发现工具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Zinote（个人开发者独立产品）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仅实现「按话题抓取摘要+滑动」单点功能，无 Library / Schedule / Trending 等配套生态，停留在 Demo 层面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PaperSwipe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—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发现 + 判断 + 归档 + 阅读规划 + 热点追踪，移动端一体化闭环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349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现有产品之间高度割裂——用户需要同时打开 Google Scholar 搜索、翻译工具理解摘要、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Zotero 管理收藏、Twitter 追踪热点，PaperSwipe 用一个 App 把这条链路完全打通。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市场机会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一个规模足够大、且持续增长的市场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3200" b="1" i="0">
                <a:solidFill>
                  <a:srgbClr val="7C6CFF"/>
                </a:solidFill>
                <a:latin typeface="PingFang SC"/>
                <a:ea typeface="PingFang SC"/>
              </a:rPr>
              <a:t>880万+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全球科研人员数量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（UNESCO 数据）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3200" b="1" i="0">
                <a:solidFill>
                  <a:srgbClr val="2FD0C9"/>
                </a:solidFill>
                <a:latin typeface="PingFang SC"/>
                <a:ea typeface="PingFang SC"/>
              </a:rPr>
              <a:t>388万+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1546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中国在读研究生规模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（教育部 2023 年数据）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28600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3200" b="1" i="0">
                <a:solidFill>
                  <a:srgbClr val="FF7A63"/>
                </a:solidFill>
                <a:latin typeface="PingFang SC"/>
                <a:ea typeface="PingFang SC"/>
              </a:rPr>
              <a:t>20万+/年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arXiv 年新增论文提交量</a:t>
            </a:r>
          </a:p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较十年前翻倍以上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10241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1" i="0">
                <a:solidFill>
                  <a:srgbClr val="11131A"/>
                </a:solidFill>
                <a:latin typeface="PingFang SC"/>
                <a:ea typeface="PingFang SC"/>
              </a:rPr>
              <a:t>"高频读论文、却缺乏高效发现工具"是一个规模足够大、且仍在持续增长的市场。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PaperSwipe 计划优先切入中文科研用户群体，验证付费与留存后再逐步向英文市场扩展。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早期验证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真实用户已经在告诉我们：这是一个真痛点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6309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黑客松路演现场收到大量用户正向认可：反复被验证的核心反馈是「这是一个真实痛点、我确实需要这样一个工具」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用户普遍认可「让枯燥的科研过程娱乐化、年轻化」这一产品理念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正在运营小红书账号，持续发布产品内容与使用场景，已收到大量积极反馈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400" b="1" i="0">
                <a:solidFill>
                  <a:srgbClr val="7C6CFF"/>
                </a:solidFill>
                <a:latin typeface="PingFang SC"/>
                <a:ea typeface="PingFang SC"/>
              </a:rPr>
              <a:t>•  </a:t>
            </a:r>
            <a:r>
              <a:rPr sz="1400" b="0" i="0">
                <a:solidFill>
                  <a:srgbClr val="565A68"/>
                </a:solidFill>
                <a:latin typeface="PingFang SC"/>
                <a:ea typeface="PingFang SC"/>
              </a:rPr>
              <a:t>验证了「科研 + 娱乐化交互」这一心智在真实用户中具备传播力，为规模化获客积累了初步的内容与渠道基础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79208" y="2178384"/>
            <a:ext cx="2340864" cy="31413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小红书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251536"/>
            <a:ext cx="2194560" cy="2995007"/>
          </a:xfrm>
          <a:prstGeom prst="rect">
            <a:avLst/>
          </a:prstGeom>
          <a:ln w="9525">
            <a:solidFill>
              <a:srgbClr val="DFE2E8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9619488" y="1992483"/>
            <a:ext cx="2340864" cy="35131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微信群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065635"/>
            <a:ext cx="2194560" cy="3366809"/>
          </a:xfrm>
          <a:prstGeom prst="rect">
            <a:avLst/>
          </a:prstGeom>
          <a:ln w="9525">
            <a:solidFill>
              <a:srgbClr val="DFE2E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Freemium 订阅制为主线，多层收入曲线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1081735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794"/>
                <a:gridCol w="2750174"/>
                <a:gridCol w="6050383"/>
              </a:tblGrid>
              <a:tr h="60350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收入来源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目标用户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说明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Pro 订阅（核心）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高频研究生 / 科研人员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无限量发现、AI 阅读规划与对话助手、更高质量摘要，App Store/Google Play 标准订阅制内购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机构/实验室版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高校实验室、企业研发团队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团队共享文献库、管理者仪表盘，按坐席数订阅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数据与 API 授权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出版方、文献管理工具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基于热点追踪能力，输出趋势报告或开放检索/推荐 API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生态联动（远期）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Zotero 等工具、学术会议/期刊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导出/联动场景中的轻量级合作分佣或联合推广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0292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免费层保证核心体验可用，作为获客与口碑传播基本盘；Pro 订阅层解锁无限量发现、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智能排期与对话助手、多设备同步等——高频刚需 + 按量计费成本结构，是健康的商业模式。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目前进展 &amp; 未来计划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MVP 已跑通，下一步是规模化增长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 i="0">
                <a:solidFill>
                  <a:srgbClr val="11131A"/>
                </a:solidFill>
                <a:latin typeface="PingFang SC"/>
                <a:ea typeface="PingFang SC"/>
              </a:rPr>
              <a:t>目前进展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3035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 i="0">
                <a:solidFill>
                  <a:srgbClr val="3ECF8E"/>
                </a:solidFill>
                <a:latin typeface="PingFang SC"/>
                <a:ea typeface="PingFang SC"/>
              </a:rPr>
              <a:t>✓  </a:t>
            </a: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核心 MVP 全功能闭环已上线（四大模块全部跑通）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 i="0">
                <a:solidFill>
                  <a:srgbClr val="3ECF8E"/>
                </a:solidFill>
                <a:latin typeface="PingFang SC"/>
                <a:ea typeface="PingFang SC"/>
              </a:rPr>
              <a:t>✓  </a:t>
            </a: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支持标签筛选、BibTeX/Zotero 导出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 i="0">
                <a:solidFill>
                  <a:srgbClr val="3ECF8E"/>
                </a:solidFill>
                <a:latin typeface="PingFang SC"/>
                <a:ea typeface="PingFang SC"/>
              </a:rPr>
              <a:t>✓  </a:t>
            </a: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移动端交互细节大量打磨，产品完成度达可对外测试成熟度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 i="0">
                <a:solidFill>
                  <a:srgbClr val="3ECF8E"/>
                </a:solidFill>
                <a:latin typeface="PingFang SC"/>
                <a:ea typeface="PingFang SC"/>
              </a:rPr>
              <a:t>✓  </a:t>
            </a: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完成 iOS 端 Capacitor 封装，可在真机调试运行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 i="0">
                <a:solidFill>
                  <a:srgbClr val="3ECF8E"/>
                </a:solidFill>
                <a:latin typeface="PingFang SC"/>
                <a:ea typeface="PingFang SC"/>
              </a:rPr>
              <a:t>✓  </a:t>
            </a:r>
            <a:r>
              <a:rPr sz="1250" b="0" i="0">
                <a:solidFill>
                  <a:srgbClr val="565A68"/>
                </a:solidFill>
                <a:latin typeface="PingFang SC"/>
                <a:ea typeface="PingFang SC"/>
              </a:rPr>
              <a:t>已启动小红书/微信社群早期运营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691640"/>
          <a:ext cx="525779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411"/>
                <a:gridCol w="3711388"/>
              </a:tblGrid>
              <a:tr h="8961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阶段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关键目标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Phase 1·已完成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核心 MVP 全功能闭环，早期种子用户验证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Phase 2·0~6个月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账号体系与多租户后端；iOS 真原生化上架；接入订阅制内购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Phase 3·6~12个月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Android 原生 App；PDF 全文解析；机构/实验室团队版；开放 API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Phase 4·12个月+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海外市场扩张；出版方数据合作；领域热点报告等数据增值服务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团队介绍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小而精，全栈能力覆盖完整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28600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50" b="1" i="0">
                <a:solidFill>
                  <a:srgbClr val="11131A"/>
                </a:solidFill>
                <a:latin typeface="PingFang SC"/>
                <a:ea typeface="PingFang SC"/>
              </a:rPr>
              <a:t>产品与前端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i="0">
                <a:solidFill>
                  <a:srgbClr val="565A68"/>
                </a:solidFill>
                <a:latin typeface="PingFang SC"/>
                <a:ea typeface="PingFang SC"/>
              </a:rPr>
              <a:t>产品定义、功能与交互设计、H5 前端开发、iOS 原生化落地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228600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2FD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50" b="1" i="0">
                <a:solidFill>
                  <a:srgbClr val="11131A"/>
                </a:solidFill>
                <a:latin typeface="PingFang SC"/>
                <a:ea typeface="PingFang SC"/>
              </a:rPr>
              <a:t>后端与数据库开发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566160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i="0">
                <a:solidFill>
                  <a:srgbClr val="565A68"/>
                </a:solidFill>
                <a:latin typeface="PingFang SC"/>
                <a:ea typeface="PingFang SC"/>
              </a:rPr>
              <a:t>Go 后端架构、多学术源检索与自动降级、AI 摘要与推荐策略、数据存储与状态管理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659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2286000"/>
            <a:ext cx="502920" cy="502920"/>
          </a:xfrm>
          <a:prstGeom prst="roundRect">
            <a:avLst>
              <a:gd name="adj" fmla="val 100000"/>
            </a:avLst>
          </a:prstGeom>
          <a:solidFill>
            <a:srgbClr val="F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50" b="1" i="0">
                <a:solidFill>
                  <a:srgbClr val="11131A"/>
                </a:solidFill>
                <a:latin typeface="PingFang SC"/>
                <a:ea typeface="PingFang SC"/>
              </a:rPr>
              <a:t>运营宣传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566160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00" b="0" i="0">
                <a:solidFill>
                  <a:srgbClr val="565A68"/>
                </a:solidFill>
                <a:latin typeface="PingFang SC"/>
                <a:ea typeface="PingFang SC"/>
              </a:rPr>
              <a:t>用户增长、社区运营（小红书/微信社群）、产品宣传物料与路演、用户反馈收集与闭环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49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团队成员均有扎实工程背景与真实科研/读论文经历——PaperSwipe 本质上是团队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「为自己造工具」后发现的强共性需求，这也是我们对 PMF 有信心的原因之一。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85216"/>
            <a:ext cx="256032" cy="381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 i="0">
                <a:solidFill>
                  <a:srgbClr val="7C6CFF"/>
                </a:solidFill>
                <a:latin typeface="PingFang SC"/>
                <a:ea typeface="PingFang SC"/>
              </a:rPr>
              <a:t>融资需求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000" b="1" i="0">
                <a:solidFill>
                  <a:srgbClr val="11131A"/>
                </a:solidFill>
                <a:latin typeface="PingFang SC"/>
                <a:ea typeface="PingFang SC"/>
              </a:rPr>
              <a:t>启动天使轮/种子轮，从 MVP 迈向规模化增长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1081735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7252"/>
                <a:gridCol w="1389384"/>
                <a:gridCol w="6450714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用途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占比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说明</a:t>
                      </a:r>
                    </a:p>
                  </a:txBody>
                  <a:tcPr anchor="ctr" marT="76200" marB="76200" marL="101600" marR="101600">
                    <a:solidFill>
                      <a:srgbClr val="11131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研发投入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40%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多租户后端、iOS/Android 原生化、订阅内购接入、PDF 全文解析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服务器与 API 成本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20%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LLM 摘要调用、学术源检索、图片生成等按量计费成本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市场推广与获客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25%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高校社群运营、内容营销、KOL 合作、应用商店 ASO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团队扩编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10%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优先补强后端工程与增长/运营岗位</a:t>
                      </a:r>
                    </a:p>
                  </a:txBody>
                  <a:tcPr anchor="ctr" marT="76200" marB="76200" marL="101600" marR="101600">
                    <a:solidFill>
                      <a:srgbClr val="ECEE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31A"/>
                          </a:solidFill>
                          <a:latin typeface="PingFang SC"/>
                          <a:ea typeface="PingFang SC"/>
                        </a:rPr>
                        <a:t>合规与其他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5%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565A68"/>
                          </a:solidFill>
                          <a:latin typeface="PingFang SC"/>
                          <a:ea typeface="PingFang SC"/>
                        </a:rPr>
                        <a:t>应用商店合规审核、法务、财务等基础运营开支</a:t>
                      </a:r>
                    </a:p>
                  </a:txBody>
                  <a:tcPr anchor="ctr" marT="76200" marB="76200" marL="101600" marR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623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里程碑：iOS App 正式上架 App Store；Pro 订阅转化率达到健康水平；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 i="0">
                <a:solidFill>
                  <a:srgbClr val="565A68"/>
                </a:solidFill>
                <a:latin typeface="PingFang SC"/>
                <a:ea typeface="PingFang SC"/>
              </a:rPr>
              <a:t>建立稳定次周/次月留存曲线；完成至少 1 个高校实验室/企业机构版试点合作。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PaperSwipe · 别再搜论文了，开始刷论文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8A8E9C"/>
                </a:solidFill>
                <a:latin typeface="PingFang SC"/>
                <a:ea typeface="PingFang SC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600" b="1" i="0">
                <a:solidFill>
                  <a:srgbClr val="FFFFFF"/>
                </a:solidFill>
                <a:latin typeface="PingFang SC"/>
                <a:ea typeface="PingFang SC"/>
              </a:rPr>
              <a:t>把「找论文」的力气，还给「读论文」本身。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 i="0">
                <a:solidFill>
                  <a:srgbClr val="C7C9D3"/>
                </a:solidFill>
                <a:latin typeface="PingFang SC"/>
                <a:ea typeface="PingFang SC"/>
              </a:rPr>
              <a:t>传统方式：搜索、翻页、翻译、收藏、然后忘记。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PingFang SC"/>
                <a:ea typeface="PingFang SC"/>
              </a:rPr>
              <a:t>PaperSwipe：AI 帮你发现、5 秒帮你判断、自动帮你安排。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3200400" cy="3840480"/>
          </a:xfrm>
          <a:prstGeom prst="roundRect">
            <a:avLst>
              <a:gd name="adj" fmla="val 6000"/>
            </a:avLst>
          </a:prstGeom>
          <a:solidFill>
            <a:srgbClr val="22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小红书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580" y="2788920"/>
            <a:ext cx="1608040" cy="2194560"/>
          </a:xfrm>
          <a:prstGeom prst="rect">
            <a:avLst/>
          </a:prstGeom>
          <a:ln>
            <a:solidFill>
              <a:srgbClr val="DFE2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14400" y="51663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小红书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62356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A0A3B0"/>
                </a:solidFill>
                <a:latin typeface="PingFang SC"/>
                <a:ea typeface="PingFang SC"/>
              </a:rPr>
              <a:t>关注产品更新与幕后花絮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468880"/>
            <a:ext cx="3200400" cy="3840480"/>
          </a:xfrm>
          <a:prstGeom prst="roundRect">
            <a:avLst>
              <a:gd name="adj" fmla="val 6000"/>
            </a:avLst>
          </a:prstGeom>
          <a:solidFill>
            <a:srgbClr val="22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微信群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529" y="2788920"/>
            <a:ext cx="1430462" cy="2194560"/>
          </a:xfrm>
          <a:prstGeom prst="rect">
            <a:avLst/>
          </a:prstGeom>
          <a:ln>
            <a:solidFill>
              <a:srgbClr val="DFE2E8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480560" y="51663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用户群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62356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A0A3B0"/>
                </a:solidFill>
                <a:latin typeface="PingFang SC"/>
                <a:ea typeface="PingFang SC"/>
              </a:rPr>
              <a:t>加入用户群一起聊 idea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200400" cy="3840480"/>
          </a:xfrm>
          <a:prstGeom prst="roundRect">
            <a:avLst>
              <a:gd name="adj" fmla="val 6000"/>
            </a:avLst>
          </a:prstGeom>
          <a:solidFill>
            <a:srgbClr val="22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微信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395" y="2788920"/>
            <a:ext cx="1723049" cy="2194560"/>
          </a:xfrm>
          <a:prstGeom prst="rect">
            <a:avLst/>
          </a:prstGeom>
          <a:ln>
            <a:solidFill>
              <a:srgbClr val="DFE2E8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046720" y="51663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PingFang SC"/>
                <a:ea typeface="PingFang SC"/>
              </a:rPr>
              <a:t>Creator 微信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62356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A0A3B0"/>
                </a:solidFill>
                <a:latin typeface="PingFang SC"/>
                <a:ea typeface="PingFang SC"/>
              </a:rPr>
              <a:t>合作/内测申请，24 小时内回复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 i="0">
                <a:solidFill>
                  <a:srgbClr val="8A8E9C"/>
                </a:solidFill>
                <a:latin typeface="PingFang SC"/>
                <a:ea typeface="PingFang SC"/>
              </a:rPr>
              <a:t>© PaperSwipe — Discover, not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